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43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1" d="100"/>
          <a:sy n="81" d="100"/>
        </p:scale>
        <p:origin x="1498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762000"/>
            <a:ext cx="6856214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6952697" y="762000"/>
            <a:ext cx="2193989" cy="5334001"/>
          </a:xfrm>
          <a:prstGeom prst="rect">
            <a:avLst/>
          </a:prstGeom>
          <a:solidFill>
            <a:srgbClr val="C3C3C3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02386" y="1298448"/>
            <a:ext cx="5486400" cy="3255264"/>
          </a:xfrm>
        </p:spPr>
        <p:txBody>
          <a:bodyPr anchor="b">
            <a:normAutofit/>
          </a:bodyPr>
          <a:lstStyle>
            <a:lvl1pPr algn="l">
              <a:defRPr sz="5400" spc="-100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5011" y="4670246"/>
            <a:ext cx="5486400" cy="914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 cap="none" spc="0" baseline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20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52299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18124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00934" y="1298448"/>
            <a:ext cx="5486400" cy="3255264"/>
          </a:xfrm>
        </p:spPr>
        <p:txBody>
          <a:bodyPr anchor="b">
            <a:normAutofit/>
          </a:bodyPr>
          <a:lstStyle>
            <a:lvl1pPr>
              <a:defRPr sz="5400" b="0" spc="-1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14650" y="4672584"/>
            <a:ext cx="5486400" cy="914400"/>
          </a:xfrm>
        </p:spPr>
        <p:txBody>
          <a:bodyPr anchor="t">
            <a:normAutofit/>
          </a:bodyPr>
          <a:lstStyle>
            <a:lvl1pPr marL="0" indent="0">
              <a:buNone/>
              <a:defRPr sz="2000" cap="none" spc="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29188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900934" y="868680"/>
            <a:ext cx="2606040" cy="5120640"/>
          </a:xfrm>
        </p:spPr>
        <p:txBody>
          <a:bodyPr/>
          <a:lstStyle>
            <a:lvl1pPr>
              <a:defRPr sz="1900"/>
            </a:lvl1pPr>
            <a:lvl2pPr>
              <a:defRPr sz="1700"/>
            </a:lvl2pPr>
            <a:lvl3pPr>
              <a:defRPr sz="1500"/>
            </a:lvl3pPr>
            <a:lvl4pPr>
              <a:defRPr sz="1300"/>
            </a:lvl4pPr>
            <a:lvl5pPr>
              <a:defRPr sz="1300"/>
            </a:lvl5pPr>
            <a:lvl6pPr>
              <a:defRPr sz="1300"/>
            </a:lvl6pPr>
            <a:lvl7pPr>
              <a:defRPr sz="1300"/>
            </a:lvl7pPr>
            <a:lvl8pPr>
              <a:defRPr sz="1300"/>
            </a:lvl8pPr>
            <a:lvl9pPr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63590" y="868680"/>
            <a:ext cx="2606040" cy="5120640"/>
          </a:xfrm>
        </p:spPr>
        <p:txBody>
          <a:bodyPr/>
          <a:lstStyle>
            <a:lvl1pPr>
              <a:defRPr sz="1900"/>
            </a:lvl1pPr>
            <a:lvl2pPr>
              <a:defRPr sz="1700"/>
            </a:lvl2pPr>
            <a:lvl3pPr>
              <a:defRPr sz="1500"/>
            </a:lvl3pPr>
            <a:lvl4pPr>
              <a:defRPr sz="1300"/>
            </a:lvl4pPr>
            <a:lvl5pPr>
              <a:defRPr sz="1300"/>
            </a:lvl5pPr>
            <a:lvl6pPr>
              <a:defRPr sz="1300"/>
            </a:lvl6pPr>
            <a:lvl7pPr>
              <a:defRPr sz="1300"/>
            </a:lvl7pPr>
            <a:lvl8pPr>
              <a:defRPr sz="1300"/>
            </a:lvl8pPr>
            <a:lvl9pPr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89139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00934" y="1023586"/>
            <a:ext cx="2606040" cy="8077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19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900934" y="1930936"/>
            <a:ext cx="2606040" cy="4023360"/>
          </a:xfrm>
        </p:spPr>
        <p:txBody>
          <a:bodyPr/>
          <a:lstStyle>
            <a:lvl1pPr>
              <a:defRPr sz="1900"/>
            </a:lvl1pPr>
            <a:lvl2pPr>
              <a:defRPr sz="1700"/>
            </a:lvl2pPr>
            <a:lvl3pPr>
              <a:defRPr sz="1500"/>
            </a:lvl3pPr>
            <a:lvl4pPr>
              <a:defRPr sz="1300"/>
            </a:lvl4pPr>
            <a:lvl5pPr>
              <a:defRPr sz="1300"/>
            </a:lvl5pPr>
            <a:lvl6pPr>
              <a:defRPr sz="1300"/>
            </a:lvl6pPr>
            <a:lvl7pPr>
              <a:defRPr sz="1300"/>
            </a:lvl7pPr>
            <a:lvl8pPr>
              <a:defRPr sz="1300"/>
            </a:lvl8pPr>
            <a:lvl9pPr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863847" y="1023587"/>
            <a:ext cx="2606040" cy="813171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19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63847" y="1930936"/>
            <a:ext cx="2606040" cy="4023360"/>
          </a:xfrm>
        </p:spPr>
        <p:txBody>
          <a:bodyPr/>
          <a:lstStyle>
            <a:lvl1pPr>
              <a:defRPr sz="1900"/>
            </a:lvl1pPr>
            <a:lvl2pPr>
              <a:defRPr sz="1700"/>
            </a:lvl2pPr>
            <a:lvl3pPr>
              <a:defRPr sz="1500"/>
            </a:lvl3pPr>
            <a:lvl4pPr>
              <a:defRPr sz="1300"/>
            </a:lvl4pPr>
            <a:lvl5pPr>
              <a:defRPr sz="1300"/>
            </a:lvl5pPr>
            <a:lvl6pPr>
              <a:defRPr sz="1300"/>
            </a:lvl6pPr>
            <a:lvl7pPr>
              <a:defRPr sz="1300"/>
            </a:lvl7pPr>
            <a:lvl8pPr>
              <a:defRPr sz="1300"/>
            </a:lvl8pPr>
            <a:lvl9pPr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25032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79717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45122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2024" y="1143000"/>
            <a:ext cx="2125980" cy="2194560"/>
          </a:xfrm>
        </p:spPr>
        <p:txBody>
          <a:bodyPr anchor="b">
            <a:normAutofit/>
          </a:bodyPr>
          <a:lstStyle>
            <a:lvl1pPr>
              <a:defRPr sz="2800" b="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00934" y="868680"/>
            <a:ext cx="548640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2024" y="3337560"/>
            <a:ext cx="2125980" cy="2560320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spcBef>
                <a:spcPts val="800"/>
              </a:spcBef>
              <a:buNone/>
              <a:defRPr sz="125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53504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2024" y="1143000"/>
            <a:ext cx="2125980" cy="2194560"/>
          </a:xfrm>
        </p:spPr>
        <p:txBody>
          <a:bodyPr anchor="b">
            <a:normAutofit/>
          </a:bodyPr>
          <a:lstStyle>
            <a:lvl1pPr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677983" y="767419"/>
            <a:ext cx="6086423" cy="5330952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2024" y="3340602"/>
            <a:ext cx="2125980" cy="2560320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spcBef>
                <a:spcPts val="800"/>
              </a:spcBef>
              <a:buNone/>
              <a:defRPr sz="125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2624326" y="6356351"/>
            <a:ext cx="4433638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95577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36762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85750" y="990600"/>
            <a:ext cx="2114550" cy="4953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900934" y="868680"/>
            <a:ext cx="5486400" cy="512064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49549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758952"/>
            <a:ext cx="2582693" cy="53309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89689" y="1123838"/>
            <a:ext cx="221061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8" name="Rectangle 37"/>
          <p:cNvSpPr/>
          <p:nvPr/>
        </p:nvSpPr>
        <p:spPr>
          <a:xfrm>
            <a:off x="8861898" y="758952"/>
            <a:ext cx="288036" cy="5330952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01951" y="864108"/>
            <a:ext cx="5486400" cy="51206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96849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901951" y="6356351"/>
            <a:ext cx="44336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975602" y="6356351"/>
            <a:ext cx="114819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="1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67643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4" r:id="rId1"/>
    <p:sldLayoutId id="2147483745" r:id="rId2"/>
    <p:sldLayoutId id="2147483746" r:id="rId3"/>
    <p:sldLayoutId id="2147483747" r:id="rId4"/>
    <p:sldLayoutId id="2147483748" r:id="rId5"/>
    <p:sldLayoutId id="2147483749" r:id="rId6"/>
    <p:sldLayoutId id="2147483750" r:id="rId7"/>
    <p:sldLayoutId id="2147483751" r:id="rId8"/>
    <p:sldLayoutId id="2147483752" r:id="rId9"/>
    <p:sldLayoutId id="2147483753" r:id="rId10"/>
    <p:sldLayoutId id="2147483754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000" kern="1200" spc="-60" baseline="0">
          <a:solidFill>
            <a:srgbClr val="FFFFFF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/>
        </a:buClr>
        <a:buFont typeface="Wingdings 2" pitchFamily="18" charset="2"/>
        <a:buChar char=""/>
        <a:defRPr sz="19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7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5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3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3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3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3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3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3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t>Python Programming Q&amp;A Assistant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t>AI Engineering Assessment</a:t>
            </a:r>
          </a:p>
          <a:p>
            <a:r>
              <a:t>Suryansh Ujjwal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Build an AI-powered Python Q&amp;A Assistant that provides accurate and grounded answers to Python-related queries using a RAG pipeline and FastAPI.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Stack Overflow - Python Questions &amp; Answers</a:t>
            </a:r>
          </a:p>
          <a:p>
            <a:r>
              <a:t>Source: Kaggle</a:t>
            </a:r>
          </a:p>
          <a:p>
            <a:r>
              <a:t>Used as the knowledge base for retrieval and answer generation.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Solution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RAG Pipeline using LangChain</a:t>
            </a:r>
          </a:p>
          <a:p>
            <a:r>
              <a:t>• ChromaDB Vector Store</a:t>
            </a:r>
          </a:p>
          <a:p>
            <a:r>
              <a:t>• FastAPI Backend</a:t>
            </a:r>
          </a:p>
          <a:p>
            <a:r>
              <a:t>• Grok (xAI) API</a:t>
            </a:r>
          </a:p>
          <a:p>
            <a:r>
              <a:t>• Domain-specific Python question answering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User → FastAPI (/ask) → RAG Pipeline → ChromaDB Retriever → Relevant Context → Grok API → Answer → User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Ingestion Pipeline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Stack Overflow Dataset → Preprocessing → Chunking → Embeddings → ChromaDB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API Endpoints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GET /health</a:t>
            </a:r>
          </a:p>
          <a:p>
            <a:r>
              <a:t>POST /ask</a:t>
            </a:r>
          </a:p>
          <a:p>
            <a:endParaRPr/>
          </a:p>
          <a:p>
            <a:r>
              <a:t>Returns grounded Python-related answers and health status.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Testing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8 test cases executed.</a:t>
            </a:r>
          </a:p>
          <a:p>
            <a:r>
              <a:t>Python queries answered correctly.</a:t>
            </a:r>
          </a:p>
          <a:p>
            <a:r>
              <a:t>Out-of-domain queries rejected.</a:t>
            </a:r>
          </a:p>
          <a:p>
            <a:r>
              <a:t>Input validation handled successfully.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Scaling for 100+ Users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Async FastAPI</a:t>
            </a:r>
          </a:p>
          <a:p>
            <a:r>
              <a:t>• Redis Caching</a:t>
            </a:r>
          </a:p>
          <a:p>
            <a:r>
              <a:t>• Load Balancer</a:t>
            </a:r>
          </a:p>
          <a:p>
            <a:r>
              <a:t>• Managed Vector Database</a:t>
            </a:r>
          </a:p>
          <a:p>
            <a:r>
              <a:t>• Horizontal Scaling</a:t>
            </a:r>
          </a:p>
          <a:p>
            <a:r>
              <a:t>• Monitoring &amp; Rate Limiting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 &amp; Future Improvements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Successfully built a Python Q&amp;A Assistant using RAG.</a:t>
            </a:r>
          </a:p>
          <a:p>
            <a:r>
              <a:t>Future work: source citations, conversation memory, Docker deployment, multi-LLM support.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rame">
  <a:themeElements>
    <a:clrScheme name="Frame">
      <a:dk1>
        <a:srgbClr val="000000"/>
      </a:dk1>
      <a:lt1>
        <a:srgbClr val="FFFFFF"/>
      </a:lt1>
      <a:dk2>
        <a:srgbClr val="545454"/>
      </a:dk2>
      <a:lt2>
        <a:srgbClr val="BFBFBF"/>
      </a:lt2>
      <a:accent1>
        <a:srgbClr val="40BAD2"/>
      </a:accent1>
      <a:accent2>
        <a:srgbClr val="FAB900"/>
      </a:accent2>
      <a:accent3>
        <a:srgbClr val="90BB23"/>
      </a:accent3>
      <a:accent4>
        <a:srgbClr val="EE7008"/>
      </a:accent4>
      <a:accent5>
        <a:srgbClr val="1AB39F"/>
      </a:accent5>
      <a:accent6>
        <a:srgbClr val="D5393D"/>
      </a:accent6>
      <a:hlink>
        <a:srgbClr val="90BB23"/>
      </a:hlink>
      <a:folHlink>
        <a:srgbClr val="EE7008"/>
      </a:folHlink>
    </a:clrScheme>
    <a:fontScheme name="Frame">
      <a:maj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Fram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20000"/>
                <a:lumMod val="102000"/>
              </a:schemeClr>
            </a:gs>
            <a:gs pos="48000">
              <a:schemeClr val="phClr">
                <a:tint val="98000"/>
                <a:shade val="90000"/>
                <a:satMod val="110000"/>
                <a:lumMod val="103000"/>
              </a:schemeClr>
            </a:gs>
            <a:gs pos="100000">
              <a:schemeClr val="phClr">
                <a:tint val="98000"/>
                <a:shade val="80000"/>
                <a:satMod val="10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ame" id="{F226E7A2-7162-461C-9490-D27D9DC04E43}" vid="{629A0216-3BBD-45C0-B63F-2683BEA18F6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TM03457475[[fn=Frame]]</Template>
  <TotalTime>5</TotalTime>
  <Words>215</Words>
  <Application>Microsoft Office PowerPoint</Application>
  <PresentationFormat>On-screen Show (4:3)</PresentationFormat>
  <Paragraphs>39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Corbel</vt:lpstr>
      <vt:lpstr>Wingdings 2</vt:lpstr>
      <vt:lpstr>Frame</vt:lpstr>
      <vt:lpstr>Python Programming Q&amp;A Assistant</vt:lpstr>
      <vt:lpstr>Problem Statement</vt:lpstr>
      <vt:lpstr>Dataset</vt:lpstr>
      <vt:lpstr>Solution Overview</vt:lpstr>
      <vt:lpstr>System Architecture</vt:lpstr>
      <vt:lpstr>Data Ingestion Pipeline</vt:lpstr>
      <vt:lpstr>API Endpoints</vt:lpstr>
      <vt:lpstr>Testing Results</vt:lpstr>
      <vt:lpstr>Scaling for 100+ Users</vt:lpstr>
      <vt:lpstr>Conclusion &amp; Future Improvements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suryansh ujjwal</dc:creator>
  <cp:keywords/>
  <dc:description>generated using python-pptx</dc:description>
  <cp:lastModifiedBy>Suryansh Ujjwal</cp:lastModifiedBy>
  <cp:revision>2</cp:revision>
  <dcterms:created xsi:type="dcterms:W3CDTF">2013-01-27T09:14:16Z</dcterms:created>
  <dcterms:modified xsi:type="dcterms:W3CDTF">2026-06-14T05:44:48Z</dcterms:modified>
  <cp:category/>
</cp:coreProperties>
</file>